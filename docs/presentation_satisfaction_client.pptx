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81293"/>
  </p:normalViewPr>
  <p:slideViewPr>
    <p:cSldViewPr snapToGrid="0" snapToObjects="1">
      <p:cViewPr varScale="1">
        <p:scale>
          <a:sx n="103" d="100"/>
          <a:sy n="103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40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Bonjour, je vais vous présenter mon travail sur la satisfaction client d'une compagnie aérienne, réalisé dans le cadre du Rush 3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MSI.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L'objectif était d'identifier les facteurs qui expliquent la satisfaction des passagers et de construire un modèle capable de la prédire.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vais dérouler la présentation en huit temps : </a:t>
            </a:r>
          </a:p>
          <a:p>
            <a:r>
              <a:rPr lang="fr-F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contexte et les objectifs de la mission, les données et la méthodologie utilisées, trois constats issus de l'analyse exploratoire, le </a:t>
            </a:r>
            <a:r>
              <a:rPr lang="fr-FR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fr-F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engineering, </a:t>
            </a:r>
          </a:p>
          <a:p>
            <a:r>
              <a:rPr lang="fr-F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modélisation avec deux algorithmes, les résultats obtenus, leur interprétation, et enfin les limites et recommandations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me suis placé dans la position d'un consultant Data/BI pour une compagnie aérienne. La mission était d'améliorer la satisfaction client en identifiant les facteurs explicatifs clés, et de développer une solution de classification. Concrètement, ça veut dire trois choses :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analyser les données comme étape préliminaire à la compréhension du comportement des passagers,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 des motifs en interrogeant bien la différence entre corrélation et causalité,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enfin introduire une vraie capacité prédictive avec deux modèles : régression logistique et KNN.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compagnie fournit deux fichiers séparés : 103 904 passagers pour l'entraînement, 25 976 pour le test, avec 22 variables explicatives et très peu de valeurs manquantes — 0.3%.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point méthodologique important ici, c'est qu'on n'a pas eu besoin de faire notre propre split : la compagnie nous donne déjà un vrai jeu de test externe.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simplement rajouté un split interne 80/20 sur le train, pour l'entraînement et le réglage des hyperparamètres, et les modèles finaux sont ensuite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ré-entraînés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100% du train avant d'être évalués une seule fois sur le test, jamais vu jusque-là.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Premier constat de l'analyse exploratoire : le profil 'business et fidèle' domine très largement la satisfaction. Un voyageur d'affaires est satisfait à 58.3%, contre seulement 10.2% pour un voyageur personnel — un écart de 48 points, le plus fort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 observe la même logique sur la classe et sur la fidélité du client."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Deuxième constat, plus contre-intuitif : la qualité de service perçue pèse beaucoup plus lourd que la ponctualité.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écarts de note les plus discriminants concernent l'embarquement en ligne et le divertissement à bord, alors que la corrélation entre le retard et la satisfaction est quasiment nulle.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 veut dire concrètement que pour la compagnie, investir dans l'expérience digitale ou le confort a probablement plus d'impact sur la satisfaction que de simplement réduire les retards.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Troisième constat : l'effet de l'âge est non-linéaire. La satisfaction progresse avec l'âge jusqu'à 57.4% chez les 45-60 ans, puis rechute à 20.8% chez les plus de 60 ans.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pattern en cloche a une implication directe sur le choix des modèles : une régression logistique, linéaire par construction, ne peut pas capturer ça sans qu'on lui construise une variable dédiée,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alors que le KNN, non-linéaire par nature, le capture nativement."</a:t>
            </a:r>
          </a:p>
          <a:p>
            <a:br>
              <a:rPr lang="fr-F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partir de ces trois constats, on a construit trois variables. 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loyal_business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qui capture l'interaction entre fidélité et voyage d'affaires, devient la variable la plus corrélée à la cible de tout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mean_service_score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résume la qualité de service perçue en une seule variable, utile pour limiter les effets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multicolinéarité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age_group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traduit directement l'effet en cloche de l'âge."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la modélisation, la priorité métier est claire : rater un passager insatisfait coûte cher à la compagnie, puisqu'aucune action corrective n'est possible, alors qu'une fausse alerte sur un satisfait ne coûte presque rien.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donc choisi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la classe insatisfaite comme métrique prioritaire. 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 le déséquilibre des classes, un résultat intéressant : la pondération automatique des classes dégradait en fait cette métrique, parce que la classe prioritaire est déjà majoritaire — on a donc préféré ne rien pondérer et jouer plutôt sur le seuil de décision. Les deux modèles ont été réglés par recherche en grille sur cinq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C=10 pour la régression logistique, 11 voisins pondérés par la distance pour le KNN."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10 — Résultats</a:t>
            </a:r>
            <a:br>
              <a:rPr lang="fr-FR" sz="1600" dirty="0"/>
            </a:br>
            <a:r>
              <a:rPr lang="fr-FR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"Sur le jeu de test externe, le KNN domine nettement la régression logistique sur toutes les métriques : 96.7% de </a:t>
            </a:r>
            <a:r>
              <a:rPr lang="fr-FR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contre 90.1%, et un ROC AUC de 0.980 contre 0.926. </a:t>
            </a:r>
          </a:p>
          <a:p>
            <a:r>
              <a:rPr lang="fr-FR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cohérent avec ce qu'on a vu en EDA : les effets de seuil, notamment sur l'âge, sont mieux capturés par un modèle de voisinage que par un modèle linéaire."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on regarde les coefficients de la régression logistique, les facteurs positifs les plus forts sont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loyal_business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l'embarquement en ligne et la classe Business ;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facteurs négatifs les plus marqués sont le voyage personnel, la classe Eco Plus, le retard à l'arrivée et le profil senior.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KNN, malgré ses meilleures performances, ne fournit aucun coefficient : c'est pour ça qu'on garde la régression logistique comme modèle de référence pour l'interprétation métier, et le KNN comme modèle retenu pour la prédiction.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Quatre limites principales à garder à l'esprit : un biais de déclaration, puisque les notes de service sont auto-déclarées et peuvent refléter un sentiment général plutôt que 14 évaluations indépendantes ;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distinction essentielle entre corrélation et causalité sur les variables de profil ; une limite opérationnelle du KNN, qui est coûteux à faire tourner à grande échelle en production ; et enfin une généralisation incertaine, puisqu'on ne connaît ni la compagnie, ni le marché, ni la période exacte de collecte des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conclure, ce projet répondait à quatre objectifs. On a analysé les données pour dégager un profil clair du passager satisfait : voyageur d'affaires fidèle, en classe Business, entre 45 et 60 ans.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identifié des motifs structurants : la synergie business-fidélité, la prédominance du service sur la ponctualité, et l'effet non-linéaire de l'âge.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distingué corrélation et causalité pour proposer des recommandations réellement actionnables.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on a prédit la satisfaction avec un modèle KNN retenu pour ses performances, complété par la régression logistique pour l'interprétation."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3B4A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MSc MSI — BOOTCAMP DATA PRO MAX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Client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Compagnie Aérienne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exploratoire, facteurs explicatifs et prédiction de la satisfaction des passagers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Enzo KOUOKAM KAMHOUA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9516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méthodologie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: 3 constats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606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(régression logistique &amp; KNN)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comparaison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709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recommandations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37744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Data / BI pour une compagnie aérienne.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améliorer la satisfaction client en identifiant les facteurs explicatifs clés du niveau de satisfaction des passagers.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solution algorithmique de classification démontrant la compréhension des enjeux métier et des réalités data du secteur aérien.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18123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37744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données recueillies et faire de l'analyse exploratoire une étape préliminaire à la compréhension du comportement des passagers.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motifs, interroger la corrélation et la causalité.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Introduire des notions de capacité prédictive des modèles (régression logistique et KNN).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méthodologie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103 904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passagers (train.csv)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25 976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passagers (test.csv)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explicatives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/>
        </p:spPr>
        <p:txBody>
          <a:bodyPr/>
          <a:lstStyle/>
          <a:p>
            <a:pPr algn="r"/>
            <a:r>
              <a:rPr lang="fr-FR" sz="1050" dirty="0" err="1"/>
              <a:t>Arrival</a:t>
            </a:r>
            <a:r>
              <a:rPr lang="fr-FR" sz="1050" dirty="0"/>
              <a:t> Delay in Minutes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696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</a:t>
            </a: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split : un vrai jeu de test externe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E7E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103 904 lignes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 par la compagnie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480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83280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E7EDF8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47091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(tuning)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4480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E7EDF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finaux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47091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ré-entraînés sur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train.csv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480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869680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0" y="3977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test.csv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1120" y="470916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25 976 lignes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vu avant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finale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 1 — Le profil « business + fidèle » domine</a:t>
            </a:r>
            <a:endParaRPr lang="en-US" sz="2600" dirty="0"/>
          </a:p>
        </p:txBody>
      </p:sp>
      <p:pic>
        <p:nvPicPr>
          <p:cNvPr id="4" name="Image 0" descr="/Users/mac/Downloads/Epitech/Rush 3/figures/fig_02_cell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1600200"/>
            <a:ext cx="8778240" cy="24051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4288813"/>
            <a:ext cx="109728" cy="109728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4233949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: 58.3% satisfaits — vs 10.2% en Personal Travel (écart de 48 pts)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4654573"/>
            <a:ext cx="109728" cy="109728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4599709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Business : 69.4% satisfaits — vs 18.6% en Eco, 24.6% en Eco Plus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020333"/>
            <a:ext cx="109728" cy="109728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965469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fidèle : 47.7% satisfaits — vs 23.7% chez les clients disloyal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 2 — Le service perçu prime sur la ponctualité</a:t>
            </a:r>
            <a:endParaRPr lang="en-US" sz="2600" dirty="0"/>
          </a:p>
        </p:txBody>
      </p:sp>
      <p:pic>
        <p:nvPicPr>
          <p:cNvPr id="4" name="Image 0" descr="/Users/mac/Downloads/Epitech/Rush 3/figures/fig_03_cell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390749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0909" y="1737360"/>
            <a:ext cx="4877963" cy="18288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/>
        </p:spPr>
      </p:sp>
      <p:sp>
        <p:nvSpPr>
          <p:cNvPr id="6" name="Text 3"/>
          <p:cNvSpPr/>
          <p:nvPr/>
        </p:nvSpPr>
        <p:spPr>
          <a:xfrm>
            <a:off x="6899509" y="1874520"/>
            <a:ext cx="44207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boarding : +1.37 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99509" y="2286000"/>
            <a:ext cx="44207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Inflight entertainment : +1.07 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99509" y="2743200"/>
            <a:ext cx="44207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de note (satisfait − insatisfait) les plus discriminants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70909" y="3749040"/>
            <a:ext cx="4877963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99509" y="3931920"/>
            <a:ext cx="457200" cy="457200"/>
          </a:xfrm>
          <a:prstGeom prst="ellipse">
            <a:avLst/>
          </a:prstGeom>
          <a:solidFill>
            <a:srgbClr val="FF855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237" y="40416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3869" y="3931920"/>
            <a:ext cx="3872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Contre-intuitif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99509" y="4572000"/>
            <a:ext cx="4420763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retard → satisfaction : −0.05 / −0.06 seulement, bien plus faible que la qualité de service perçue (0.3 à 0.5).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 3 — Un effet non-linéaire de l'âge</a:t>
            </a:r>
            <a:endParaRPr lang="en-US" sz="2600" dirty="0"/>
          </a:p>
        </p:txBody>
      </p:sp>
      <p:pic>
        <p:nvPicPr>
          <p:cNvPr id="4" name="Image 0" descr="/Users/mac/Downloads/Epitech/Rush 3/figures/fig_05_cell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6035040" cy="38292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737360"/>
            <a:ext cx="4233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de satisfaits chez les mineurs (&lt;18 ans)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jusqu'à 57.4% chez les 45-60 ans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Rechute à 20.8% chez les 60 ans et plus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0" y="3931920"/>
            <a:ext cx="4233672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4069080"/>
            <a:ext cx="3776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méthodologique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43800" y="4434840"/>
            <a:ext cx="37764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(linéaire) ne peut pas capturer ce seuil sans variable construite (age_group). Le KNN, non-linéaire par nature, le capture nativement.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variables construites, chacune ancrée dans un constat de l'EDA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loyal_business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Loyal Customer × Business travel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corr. 0.56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plus forte du dataset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19" y="23024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mean_service_score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2628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14 notes de service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26280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corr. 0.50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52628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l'effet de multicolinéarité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55280" y="18288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219" y="230245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8388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183880" y="3474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d'âge (mineur → senior)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183880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17→57%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183880" y="4983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l'effet en cloche (constat 3)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&amp; KNN — démarche baseline → tuning → final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métier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un passager insatisfait = pas d'action corrective possible (coût élevé)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Fausse alerte sur un satisfait = coût faible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prioritaire : recall classe « neutral or dissatisfied »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déséquilibre (43% / 57%)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754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dégrade le recall prioritaire (0.874 vs 0.903) car la classe est déjà majoritaire → aucune pondération, arbitrage piloté par le seuil de décision.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FF855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08666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65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des hyperparamètres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2651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92240" y="2971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(5 folds), C ∈ {0.01 … 100} → C = 10, gain marginal vs baseline.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9224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92240" y="4069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(5 folds), n_neighbors ∈ {5…51}, weights ∈ {uniform, distance} → k = 11, weights = 'distance'.</a:t>
            </a:r>
            <a:endParaRPr lang="en-US" sz="1250" dirty="0"/>
          </a:p>
        </p:txBody>
      </p:sp>
      <p:pic>
        <p:nvPicPr>
          <p:cNvPr id="19" name="Image 2" descr="/Users/mac/Downloads/Epitech/Rush 3/figures/fig_07_cell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754880"/>
            <a:ext cx="1807845" cy="11887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82965" y="4754880"/>
            <a:ext cx="31756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'distance' domine 'uniform'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D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k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comparaison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test externe (25 976 passagers), seuil de décision 0.5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1371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 (cl. 0)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Précision (cl. 0)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 macro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 AUC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Régression Logistique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0.871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0.874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0.869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0.926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KNN (k=11, distance)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0.931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0.967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0.914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0.929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0.980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Image 0" descr="/Users/mac/Downloads/Epitech/Rush 3/figures/fig_08_cell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5577840" cy="2371170"/>
          </a:xfrm>
          <a:prstGeom prst="rect">
            <a:avLst/>
          </a:prstGeom>
        </p:spPr>
      </p:pic>
      <p:pic>
        <p:nvPicPr>
          <p:cNvPr id="6" name="Image 1" descr="/Users/mac/Downloads/Epitech/Rush 3/figures/fig_09_cell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246120"/>
            <a:ext cx="3530642" cy="29260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domine sur toutes les métriques — les seuils non-linéaires (âge, interactions) sont mieux capturés par un modèle de voisinage.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de la régression logistique — modèle de référence interprétable</a:t>
            </a:r>
            <a:endParaRPr lang="en-US" sz="1400" dirty="0"/>
          </a:p>
        </p:txBody>
      </p:sp>
      <p:pic>
        <p:nvPicPr>
          <p:cNvPr id="4" name="Image 0" descr="/Users/mac/Downloads/Epitech/Rush 3/figures/fig_11_cell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4292611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98451" y="1737360"/>
            <a:ext cx="62504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positifs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98451" y="2103120"/>
            <a:ext cx="625042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loyal_business (+1.03), Online boarding (+0.77), Class Business (+0.44)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98451" y="3017520"/>
            <a:ext cx="62504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négatifs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98451" y="3383280"/>
            <a:ext cx="625042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Travel (-0.44), Class Eco Plus (-0.41), Arrival Delay (-0.38), senior (-0.36)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98451" y="4343400"/>
            <a:ext cx="6250421" cy="2148840"/>
          </a:xfrm>
          <a:prstGeom prst="roundRect">
            <a:avLst>
              <a:gd name="adj" fmla="val 3404"/>
            </a:avLst>
          </a:prstGeom>
          <a:solidFill>
            <a:srgbClr val="F3F6FC"/>
          </a:solidFill>
          <a:ln/>
        </p:spPr>
      </p:sp>
      <p:sp>
        <p:nvSpPr>
          <p:cNvPr id="10" name="Text 7"/>
          <p:cNvSpPr/>
          <p:nvPr/>
        </p:nvSpPr>
        <p:spPr>
          <a:xfrm>
            <a:off x="5481331" y="4480560"/>
            <a:ext cx="5884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performant mais peu interprétable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1331" y="4846320"/>
            <a:ext cx="588466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coefficients natifs → la LR sert de grille de lecture métier, le KNN reste le modèle prédictif retenu.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biais identifiés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9604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déclaration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auto-déclarées : halo effect entre les 14 items de service.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8288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19604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≠ causalité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0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(fidélité, classe) ≠ levier d'action direct.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42921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160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opérationnelle KNN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paresseux : coûteux à grande échelle en production.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26480" y="39319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55080" y="41605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54" y="42921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4160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incertaine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0080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Compagnie, marché et période de collecte non précisés.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aux 4 objectifs de la mission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0299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satisfait : business, classe Business, fidèle, 45-60 ans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20299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motifs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5146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 « business + fidèle », service &gt; ponctualité, âge non-linéaire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9959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&amp; causalité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48056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entre variables de profil et leviers de service activables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7947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2A3570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4023360"/>
            <a:ext cx="502920" cy="502920"/>
          </a:xfrm>
          <a:prstGeom prst="ellipse">
            <a:avLst/>
          </a:prstGeom>
          <a:solidFill>
            <a:srgbClr val="FF8552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9959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448056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retenu (recall 96.7%, ROC AUC 0.980) ; LR pour l'interprétation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train.csv / test.csv, fournis par la compagnie aérienne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de machine learning : scikit-learn (https://scikit-learn.org)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complet : Rush3_Satisfaction_Client.docx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complet : Rush3_Satisfaction_Client.ipynb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75520" y="5120640"/>
            <a:ext cx="1188720" cy="1188720"/>
          </a:xfrm>
          <a:prstGeom prst="ellipse">
            <a:avLst/>
          </a:prstGeom>
          <a:solidFill>
            <a:srgbClr val="F3F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3" y="5405933"/>
            <a:ext cx="618134" cy="618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3 — Satisfaction Client Compagnie Aérienne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2212</Words>
  <Application>Microsoft Macintosh PowerPoint</Application>
  <PresentationFormat>Grand écran</PresentationFormat>
  <Paragraphs>246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Satisfaction Client - Compagnie Aerienne</dc:title>
  <dc:subject>PptxGenJS Presentation</dc:subject>
  <dc:creator>Rush 3 - MSc MSI</dc:creator>
  <cp:lastModifiedBy>Cedric enzo Kouokam kamhoua</cp:lastModifiedBy>
  <cp:revision>2</cp:revision>
  <dcterms:created xsi:type="dcterms:W3CDTF">2026-07-03T02:54:35Z</dcterms:created>
  <dcterms:modified xsi:type="dcterms:W3CDTF">2026-07-07T04:02:55Z</dcterms:modified>
</cp:coreProperties>
</file>